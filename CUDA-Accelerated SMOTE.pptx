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314" r:id="rId5"/>
    <p:sldId id="315" r:id="rId6"/>
    <p:sldId id="318" r:id="rId7"/>
    <p:sldId id="325" r:id="rId8"/>
    <p:sldId id="329" r:id="rId9"/>
    <p:sldId id="320" r:id="rId10"/>
    <p:sldId id="326" r:id="rId11"/>
    <p:sldId id="327" r:id="rId12"/>
    <p:sldId id="328" r:id="rId13"/>
    <p:sldId id="33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57314" autoAdjust="0"/>
  </p:normalViewPr>
  <p:slideViewPr>
    <p:cSldViewPr snapToGrid="0">
      <p:cViewPr>
        <p:scale>
          <a:sx n="60" d="100"/>
          <a:sy n="60" d="100"/>
        </p:scale>
        <p:origin x="912" y="150"/>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8/16/2025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8/16/2025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226176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I tested</a:t>
            </a:r>
            <a:r>
              <a:rPr lang="en-US" dirty="0"/>
              <a:t>: To evaluate GPU acceleration, I designed a structured testing pipeline. I first generated datasets using benchmark_smote.py, fixing N = 10,000 samples while varying the number of features (10–1000) and minority class proportion (1–40%). This produced a comprehensive family of CSV datasets that covered the parameter space. For each dataset, I ran both the CPU and GPU versions of SMOTE and logged results in timings.csv. I then paired these results into timings_paired.csv, allowing direct speedup calculations (CPU time ÷ GPU time). Finally, I visualized the results using plot_speedups_combined.py, which produced three complementary plots: a heatmap of the full parameter space, speedup vs features, and speedup vs minority percentage. This pipeline ensured that I could objectively determine whether GPU acceleration provided a measurable benefit, and in which scenarios it mattered most.</a:t>
            </a:r>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1566938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plot was chosen to highlight a different way of testing whether the GPU provides a real speedup. The heatmap summarizes the full grid of results, while the line plots break it down into interpretable slices: one by features and one by minority percentage. Together, they let me investigate not just whether GPUs are faster, but under what conditions that difference actually matters.</a:t>
            </a:r>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522099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49BF-0137-3736-CB16-130D62111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81510-CADB-CD2D-E51B-ADFEB7F1D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C904D-75FD-C940-5653-A1798D16F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ACE24-1532-B532-338E-62C8879A0866}"/>
              </a:ext>
            </a:extLst>
          </p:cNvPr>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177266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E26A5-EAE0-8894-8F80-EC7BE0CBC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60B0F-5CFF-227B-9265-520E52DBC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1A58B-AF84-B1E8-543C-4062E9C14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C10F33-1F15-4D94-E7E1-30BDB0B7823D}"/>
              </a:ext>
            </a:extLst>
          </p:cNvPr>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1836374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5374195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5386812" y="2773681"/>
            <a:ext cx="6383548" cy="3200400"/>
          </a:xfrm>
        </p:spPr>
        <p:txBody>
          <a:bodyPr/>
          <a:lstStyle/>
          <a:p>
            <a:r>
              <a:rPr lang="en-US" dirty="0"/>
              <a:t>CUDA-Accelerated SMOTE: AN Overview</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400" y="315532"/>
            <a:ext cx="6545655" cy="646317"/>
          </a:xfrm>
        </p:spPr>
        <p:txBody>
          <a:bodyPr>
            <a:normAutofit/>
          </a:bodyPr>
          <a:lstStyle/>
          <a:p>
            <a:r>
              <a:rPr lang="en-US" dirty="0"/>
              <a:t>Code walkthrough (CPU path)</a:t>
            </a:r>
          </a:p>
        </p:txBody>
      </p:sp>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633742" y="1087089"/>
            <a:ext cx="6545655" cy="5770911"/>
          </a:xfrm>
        </p:spPr>
        <p:txBody>
          <a:bodyPr>
            <a:noAutofit/>
          </a:bodyPr>
          <a:lstStyle/>
          <a:p>
            <a:pPr>
              <a:lnSpc>
                <a:spcPct val="100000"/>
              </a:lnSpc>
            </a:pPr>
            <a:r>
              <a:rPr lang="en-US" sz="1800" b="1" dirty="0"/>
              <a:t>Pipeline (CPU)</a:t>
            </a:r>
          </a:p>
          <a:p>
            <a:pPr marL="285750" indent="-285750">
              <a:lnSpc>
                <a:spcPct val="100000"/>
              </a:lnSpc>
              <a:buFont typeface="Arial" panose="020B0604020202020204" pitchFamily="34" charset="0"/>
              <a:buChar char="•"/>
            </a:pPr>
            <a:r>
              <a:rPr lang="en-US" sz="1800" dirty="0"/>
              <a:t>Load → split: read CSV, split into minority (label=1) and majority (label=0).</a:t>
            </a:r>
          </a:p>
          <a:p>
            <a:pPr marL="285750" indent="-285750">
              <a:lnSpc>
                <a:spcPct val="100000"/>
              </a:lnSpc>
              <a:buFont typeface="Arial" panose="020B0604020202020204" pitchFamily="34" charset="0"/>
              <a:buChar char="•"/>
            </a:pPr>
            <a:r>
              <a:rPr lang="en-US" sz="1800" dirty="0"/>
              <a:t>KNN on minority: for each minority sample, compute distances to other samples, partial-sort to get k neighbors.</a:t>
            </a:r>
          </a:p>
          <a:p>
            <a:pPr marL="285750" indent="-285750">
              <a:lnSpc>
                <a:spcPct val="100000"/>
              </a:lnSpc>
              <a:buFont typeface="Arial" panose="020B0604020202020204" pitchFamily="34" charset="0"/>
              <a:buChar char="•"/>
            </a:pPr>
            <a:r>
              <a:rPr lang="en-US" sz="1800" dirty="0"/>
              <a:t>Pick “in-danger” points: weight by proximity to majority; sample points more at the boundary.</a:t>
            </a:r>
          </a:p>
          <a:p>
            <a:pPr marL="285750" indent="-285750">
              <a:lnSpc>
                <a:spcPct val="100000"/>
              </a:lnSpc>
              <a:buFont typeface="Arial" panose="020B0604020202020204" pitchFamily="34" charset="0"/>
              <a:buChar char="•"/>
            </a:pPr>
            <a:r>
              <a:rPr lang="en-US" sz="1800" dirty="0"/>
              <a:t>Interpolate: create synthetic rows along the line between a point and a chosen neighbor; append until classes balance.</a:t>
            </a:r>
          </a:p>
          <a:p>
            <a:pPr marL="285750" indent="-285750">
              <a:lnSpc>
                <a:spcPct val="100000"/>
              </a:lnSpc>
              <a:buFont typeface="Arial" panose="020B0604020202020204" pitchFamily="34" charset="0"/>
              <a:buChar char="•"/>
            </a:pPr>
            <a:r>
              <a:rPr lang="en-US" sz="1800" dirty="0"/>
              <a:t>Write: output output_balanced.csv.</a:t>
            </a:r>
          </a:p>
          <a:p>
            <a:pPr>
              <a:lnSpc>
                <a:spcPct val="100000"/>
              </a:lnSpc>
            </a:pPr>
            <a:endParaRPr lang="en-US" sz="1800" dirty="0"/>
          </a:p>
          <a:p>
            <a:pPr>
              <a:lnSpc>
                <a:spcPct val="100000"/>
              </a:lnSpc>
            </a:pPr>
            <a:r>
              <a:rPr lang="en-US" sz="1800" b="1" dirty="0"/>
              <a:t>Hotspots (areas with the highest time consumption)</a:t>
            </a:r>
          </a:p>
          <a:p>
            <a:pPr marL="285750" indent="-285750">
              <a:lnSpc>
                <a:spcPct val="100000"/>
              </a:lnSpc>
              <a:buFont typeface="Arial" panose="020B0604020202020204" pitchFamily="34" charset="0"/>
              <a:buChar char="•"/>
            </a:pPr>
            <a:r>
              <a:rPr lang="en-US" sz="1800" dirty="0"/>
              <a:t>Euclidean distance loops and partial sort (</a:t>
            </a:r>
            <a:r>
              <a:rPr lang="en-US" sz="1800" dirty="0" err="1"/>
              <a:t>kNN</a:t>
            </a:r>
            <a:r>
              <a:rPr lang="en-US" sz="1800" dirty="0"/>
              <a:t>) dominate runtime.</a:t>
            </a:r>
          </a:p>
          <a:p>
            <a:pPr marL="285750" indent="-285750">
              <a:lnSpc>
                <a:spcPct val="100000"/>
              </a:lnSpc>
              <a:buFont typeface="Arial" panose="020B0604020202020204" pitchFamily="34" charset="0"/>
              <a:buChar char="•"/>
            </a:pPr>
            <a:r>
              <a:rPr lang="en-US" sz="1800" dirty="0"/>
              <a:t>Interpolation is cheap; I/O is negligible compared to </a:t>
            </a:r>
            <a:r>
              <a:rPr lang="en-US" sz="1800" dirty="0" err="1"/>
              <a:t>kNN</a:t>
            </a:r>
            <a:r>
              <a:rPr lang="en-US" sz="1800" dirty="0"/>
              <a:t>.</a:t>
            </a:r>
          </a:p>
        </p:txBody>
      </p:sp>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914399" y="365125"/>
            <a:ext cx="7273637" cy="576435"/>
          </a:xfrm>
        </p:spPr>
        <p:txBody>
          <a:bodyPr/>
          <a:lstStyle/>
          <a:p>
            <a:r>
              <a:rPr lang="en-US" dirty="0"/>
              <a:t>Code walkthrough (GPU path)</a:t>
            </a:r>
            <a:endParaRPr lang="en-US" sz="3200" dirty="0"/>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832917" y="1516028"/>
            <a:ext cx="7273638" cy="4155757"/>
          </a:xfrm>
        </p:spPr>
        <p:txBody>
          <a:bodyPr>
            <a:normAutofit lnSpcReduction="10000"/>
          </a:bodyPr>
          <a:lstStyle/>
          <a:p>
            <a:pPr marL="0" indent="0">
              <a:spcBef>
                <a:spcPts val="0"/>
              </a:spcBef>
              <a:spcAft>
                <a:spcPts val="1200"/>
              </a:spcAft>
              <a:buNone/>
            </a:pPr>
            <a:r>
              <a:rPr lang="en-US" sz="1800" b="1" cap="none" dirty="0"/>
              <a:t>What I moved to GPU (and why)</a:t>
            </a:r>
          </a:p>
          <a:p>
            <a:r>
              <a:rPr lang="en-US" sz="1800" cap="none" dirty="0"/>
              <a:t>Distance matrix kernel: launch a 2-D grid where each thread computes a distance (</a:t>
            </a:r>
            <a:r>
              <a:rPr lang="en-US" sz="1800" cap="none" dirty="0" err="1"/>
              <a:t>i</a:t>
            </a:r>
            <a:r>
              <a:rPr lang="en-US" sz="1800" cap="none" dirty="0"/>
              <a:t>, j) across features; tile features into shared memory (reduces global reads).</a:t>
            </a:r>
          </a:p>
          <a:p>
            <a:r>
              <a:rPr lang="en-US" sz="1800" cap="none" dirty="0"/>
              <a:t>Neighbor selection: use Thrust to partial-sort each row (or keep a per-row top-k heap).</a:t>
            </a:r>
          </a:p>
          <a:p>
            <a:r>
              <a:rPr lang="en-US" sz="1800" cap="none" dirty="0"/>
              <a:t>(Option A) Interpolate on GPU with </a:t>
            </a:r>
            <a:r>
              <a:rPr lang="en-US" sz="1800" cap="none" dirty="0" err="1"/>
              <a:t>curand</a:t>
            </a:r>
            <a:r>
              <a:rPr lang="en-US" sz="1800" cap="none" dirty="0"/>
              <a:t> (one thread = one synthetic sample), then copy the finished synthetic block back to host.</a:t>
            </a:r>
          </a:p>
          <a:p>
            <a:r>
              <a:rPr lang="en-US" sz="1800" cap="none" dirty="0"/>
              <a:t>(Option B) Keep interpolation on CPU (works fine; smaller win).</a:t>
            </a:r>
          </a:p>
          <a:p>
            <a:pPr marL="228600" indent="-228600">
              <a:spcBef>
                <a:spcPts val="0"/>
              </a:spcBef>
              <a:spcAft>
                <a:spcPts val="1200"/>
              </a:spcAft>
              <a:buFont typeface="Arial" panose="020B0604020202020204" pitchFamily="34" charset="0"/>
              <a:buChar char="•"/>
            </a:pPr>
            <a:endParaRPr lang="en-US" sz="1800" b="1" cap="none" dirty="0"/>
          </a:p>
          <a:p>
            <a:pPr marL="0" indent="0">
              <a:spcBef>
                <a:spcPts val="0"/>
              </a:spcBef>
              <a:spcAft>
                <a:spcPts val="1200"/>
              </a:spcAft>
              <a:buNone/>
            </a:pPr>
            <a:r>
              <a:rPr lang="en-US" sz="1800" b="1" cap="none" dirty="0"/>
              <a:t>CPU still does</a:t>
            </a:r>
          </a:p>
          <a:p>
            <a:r>
              <a:rPr lang="en-US" sz="1800" cap="none" dirty="0"/>
              <a:t>CSV I/O, class counts, assembling/writing the final </a:t>
            </a:r>
            <a:r>
              <a:rPr lang="en-US" sz="1800" cap="none" dirty="0" err="1"/>
              <a:t>dataframe</a:t>
            </a:r>
            <a:r>
              <a:rPr lang="en-US" sz="1800" cap="none" dirty="0"/>
              <a:t>.</a:t>
            </a:r>
            <a:endParaRPr lang="en-US" sz="1800" cap="none" dirty="0">
              <a:cs typeface="Calibri"/>
            </a:endParaRPr>
          </a:p>
        </p:txBody>
      </p:sp>
    </p:spTree>
    <p:extLst>
      <p:ext uri="{BB962C8B-B14F-4D97-AF65-F5344CB8AC3E}">
        <p14:creationId xmlns:p14="http://schemas.microsoft.com/office/powerpoint/2010/main" val="41200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CED9-3D31-C7EF-C4E5-0D218F611807}"/>
              </a:ext>
            </a:extLst>
          </p:cNvPr>
          <p:cNvSpPr>
            <a:spLocks noGrp="1"/>
          </p:cNvSpPr>
          <p:nvPr>
            <p:ph type="title"/>
          </p:nvPr>
        </p:nvSpPr>
        <p:spPr>
          <a:xfrm>
            <a:off x="923546" y="315532"/>
            <a:ext cx="10354052" cy="1209765"/>
          </a:xfrm>
        </p:spPr>
        <p:txBody>
          <a:bodyPr/>
          <a:lstStyle/>
          <a:p>
            <a:r>
              <a:rPr lang="en-US" dirty="0"/>
              <a:t>Where GPU vs CPU in the code (simple map)</a:t>
            </a:r>
          </a:p>
        </p:txBody>
      </p:sp>
      <p:graphicFrame>
        <p:nvGraphicFramePr>
          <p:cNvPr id="5" name="Table 9">
            <a:extLst>
              <a:ext uri="{FF2B5EF4-FFF2-40B4-BE49-F238E27FC236}">
                <a16:creationId xmlns:a16="http://schemas.microsoft.com/office/drawing/2014/main" id="{B782709C-FC0C-E355-9C94-A8EE025BAC7B}"/>
              </a:ext>
            </a:extLst>
          </p:cNvPr>
          <p:cNvGraphicFramePr>
            <a:graphicFrameLocks noGrp="1"/>
          </p:cNvGraphicFramePr>
          <p:nvPr>
            <p:ph type="tbl" sz="quarter" idx="10"/>
            <p:extLst>
              <p:ext uri="{D42A27DB-BD31-4B8C-83A1-F6EECF244321}">
                <p14:modId xmlns:p14="http://schemas.microsoft.com/office/powerpoint/2010/main" val="394896748"/>
              </p:ext>
            </p:extLst>
          </p:nvPr>
        </p:nvGraphicFramePr>
        <p:xfrm>
          <a:off x="923925" y="1690261"/>
          <a:ext cx="10353673" cy="4391028"/>
        </p:xfrm>
        <a:graphic>
          <a:graphicData uri="http://schemas.openxmlformats.org/drawingml/2006/table">
            <a:tbl>
              <a:tblPr firstRow="1" bandRow="1">
                <a:tableStyleId>{5C22544A-7EE6-4342-B048-85BDC9FD1C3A}</a:tableStyleId>
              </a:tblPr>
              <a:tblGrid>
                <a:gridCol w="4670613">
                  <a:extLst>
                    <a:ext uri="{9D8B030D-6E8A-4147-A177-3AD203B41FA5}">
                      <a16:colId xmlns:a16="http://schemas.microsoft.com/office/drawing/2014/main" val="3446012419"/>
                    </a:ext>
                  </a:extLst>
                </a:gridCol>
                <a:gridCol w="2841530">
                  <a:extLst>
                    <a:ext uri="{9D8B030D-6E8A-4147-A177-3AD203B41FA5}">
                      <a16:colId xmlns:a16="http://schemas.microsoft.com/office/drawing/2014/main" val="4052646397"/>
                    </a:ext>
                  </a:extLst>
                </a:gridCol>
                <a:gridCol w="2841530">
                  <a:extLst>
                    <a:ext uri="{9D8B030D-6E8A-4147-A177-3AD203B41FA5}">
                      <a16:colId xmlns:a16="http://schemas.microsoft.com/office/drawing/2014/main" val="1935352797"/>
                    </a:ext>
                  </a:extLst>
                </a:gridCol>
              </a:tblGrid>
              <a:tr h="731838">
                <a:tc>
                  <a:txBody>
                    <a:bodyPr/>
                    <a:lstStyle/>
                    <a:p>
                      <a:pPr algn="ctr" fontAlgn="b"/>
                      <a:r>
                        <a:rPr lang="en-US" sz="1800" b="0" i="0" u="none" strike="noStrike" dirty="0">
                          <a:solidFill>
                            <a:schemeClr val="tx1"/>
                          </a:solidFill>
                          <a:effectLst/>
                          <a:latin typeface="+mn-lt"/>
                        </a:rPr>
                        <a:t>Step</a:t>
                      </a:r>
                    </a:p>
                  </a:txBody>
                  <a:tcPr marL="288000" anchor="ctr"/>
                </a:tc>
                <a:tc>
                  <a:txBody>
                    <a:bodyPr/>
                    <a:lstStyle/>
                    <a:p>
                      <a:pPr algn="ctr" fontAlgn="b"/>
                      <a:r>
                        <a:rPr lang="en-US" sz="1800" b="1" u="none" strike="noStrike" dirty="0">
                          <a:solidFill>
                            <a:schemeClr val="tx1"/>
                          </a:solidFill>
                          <a:effectLst/>
                        </a:rPr>
                        <a:t>CPU Version</a:t>
                      </a:r>
                      <a:endParaRPr lang="en-US" sz="1800" b="1" i="0" u="none" strike="noStrike" dirty="0">
                        <a:solidFill>
                          <a:schemeClr val="tx1"/>
                        </a:solidFill>
                        <a:effectLst/>
                        <a:latin typeface="+mn-lt"/>
                      </a:endParaRPr>
                    </a:p>
                  </a:txBody>
                  <a:tcPr anchor="ctr"/>
                </a:tc>
                <a:tc>
                  <a:txBody>
                    <a:bodyPr/>
                    <a:lstStyle/>
                    <a:p>
                      <a:pPr algn="ctr" fontAlgn="b"/>
                      <a:r>
                        <a:rPr lang="en-US" sz="1800" b="1" u="none" strike="noStrike" dirty="0">
                          <a:solidFill>
                            <a:schemeClr val="tx1"/>
                          </a:solidFill>
                          <a:effectLst/>
                        </a:rPr>
                        <a:t>CUDA Version</a:t>
                      </a:r>
                      <a:endParaRPr lang="en-US" sz="1800" b="1" i="0" u="none" strike="noStrike" dirty="0">
                        <a:solidFill>
                          <a:schemeClr val="tx1"/>
                        </a:solidFill>
                        <a:effectLst/>
                        <a:latin typeface="+mn-lt"/>
                      </a:endParaRPr>
                    </a:p>
                  </a:txBody>
                  <a:tcPr anchor="ctr"/>
                </a:tc>
                <a:extLst>
                  <a:ext uri="{0D108BD9-81ED-4DB2-BD59-A6C34878D82A}">
                    <a16:rowId xmlns:a16="http://schemas.microsoft.com/office/drawing/2014/main" val="4140773105"/>
                  </a:ext>
                </a:extLst>
              </a:tr>
              <a:tr h="731838">
                <a:tc>
                  <a:txBody>
                    <a:bodyPr/>
                    <a:lstStyle/>
                    <a:p>
                      <a:pPr algn="l" fontAlgn="b"/>
                      <a:r>
                        <a:rPr lang="en-US" dirty="0"/>
                        <a:t>       Read CSV / split classes</a:t>
                      </a:r>
                      <a:endParaRPr lang="en-US" sz="1800" b="0" i="0" u="none" strike="noStrike" dirty="0">
                        <a:solidFill>
                          <a:schemeClr val="tx1"/>
                        </a:solidFill>
                        <a:effectLst/>
                        <a:latin typeface="+mn-lt"/>
                      </a:endParaRPr>
                    </a:p>
                  </a:txBody>
                  <a:tcPr marL="288000" anchor="ctr"/>
                </a:tc>
                <a:tc>
                  <a:txBody>
                    <a:bodyPr/>
                    <a:lstStyle/>
                    <a:p>
                      <a:pPr algn="ctr" fontAlgn="b"/>
                      <a:r>
                        <a:rPr lang="en-US" sz="1800" b="0" i="0" u="none" strike="noStrike" dirty="0">
                          <a:solidFill>
                            <a:schemeClr val="tx1"/>
                          </a:solidFill>
                          <a:effectLst/>
                          <a:latin typeface="+mn-lt"/>
                        </a:rPr>
                        <a:t>CPU</a:t>
                      </a:r>
                    </a:p>
                  </a:txBody>
                  <a:tcPr anchor="ctr"/>
                </a:tc>
                <a:tc>
                  <a:txBody>
                    <a:bodyPr/>
                    <a:lstStyle/>
                    <a:p>
                      <a:pPr algn="ctr" fontAlgn="b"/>
                      <a:r>
                        <a:rPr lang="en-US" sz="1800" b="0" i="0" u="none" strike="noStrike" dirty="0">
                          <a:solidFill>
                            <a:schemeClr val="tx1"/>
                          </a:solidFill>
                          <a:effectLst/>
                          <a:latin typeface="+mn-lt"/>
                        </a:rPr>
                        <a:t>CPU</a:t>
                      </a:r>
                    </a:p>
                  </a:txBody>
                  <a:tcPr anchor="ctr"/>
                </a:tc>
                <a:extLst>
                  <a:ext uri="{0D108BD9-81ED-4DB2-BD59-A6C34878D82A}">
                    <a16:rowId xmlns:a16="http://schemas.microsoft.com/office/drawing/2014/main" val="4142911372"/>
                  </a:ext>
                </a:extLst>
              </a:tr>
              <a:tr h="731838">
                <a:tc>
                  <a:txBody>
                    <a:bodyPr/>
                    <a:lstStyle/>
                    <a:p>
                      <a:pPr lvl="1" algn="l" fontAlgn="b"/>
                      <a:r>
                        <a:rPr lang="en-US" dirty="0"/>
                        <a:t>Distance compute (</a:t>
                      </a:r>
                      <a:r>
                        <a:rPr lang="en-US" dirty="0" err="1"/>
                        <a:t>kNN</a:t>
                      </a:r>
                      <a:r>
                        <a:rPr lang="en-US" dirty="0"/>
                        <a:t>)</a:t>
                      </a:r>
                      <a:endParaRPr lang="en-US" sz="1800" b="0" i="0" u="none" strike="noStrike" dirty="0">
                        <a:solidFill>
                          <a:schemeClr val="tx1"/>
                        </a:solidFill>
                        <a:effectLst/>
                        <a:latin typeface="+mn-lt"/>
                      </a:endParaRPr>
                    </a:p>
                  </a:txBody>
                  <a:tcPr marL="288000" anchor="ctr"/>
                </a:tc>
                <a:tc>
                  <a:txBody>
                    <a:bodyPr/>
                    <a:lstStyle/>
                    <a:p>
                      <a:pPr algn="ctr">
                        <a:buNone/>
                      </a:pPr>
                      <a:r>
                        <a:rPr lang="en-US" dirty="0"/>
                        <a:t>CPU loops</a:t>
                      </a:r>
                    </a:p>
                  </a:txBody>
                  <a:tcPr anchor="ctr"/>
                </a:tc>
                <a:tc>
                  <a:txBody>
                    <a:bodyPr/>
                    <a:lstStyle/>
                    <a:p>
                      <a:pPr algn="ctr" fontAlgn="b"/>
                      <a:r>
                        <a:rPr lang="en-US" sz="1800" b="0" u="none" strike="noStrike" dirty="0">
                          <a:solidFill>
                            <a:schemeClr val="tx1"/>
                          </a:solidFill>
                          <a:effectLst/>
                        </a:rPr>
                        <a:t>GPU kernel</a:t>
                      </a:r>
                      <a:endParaRPr lang="en-US" sz="1800" b="0" i="0" u="none" strike="noStrike" dirty="0">
                        <a:solidFill>
                          <a:schemeClr val="tx1"/>
                        </a:solidFill>
                        <a:effectLst/>
                        <a:latin typeface="+mn-lt"/>
                      </a:endParaRPr>
                    </a:p>
                  </a:txBody>
                  <a:tcPr anchor="ctr"/>
                </a:tc>
                <a:extLst>
                  <a:ext uri="{0D108BD9-81ED-4DB2-BD59-A6C34878D82A}">
                    <a16:rowId xmlns:a16="http://schemas.microsoft.com/office/drawing/2014/main" val="1543393929"/>
                  </a:ext>
                </a:extLst>
              </a:tr>
              <a:tr h="731838">
                <a:tc>
                  <a:txBody>
                    <a:bodyPr/>
                    <a:lstStyle/>
                    <a:p>
                      <a:pPr lvl="1" algn="l" fontAlgn="b"/>
                      <a:r>
                        <a:rPr lang="en-US" dirty="0"/>
                        <a:t>Partial sort top-k</a:t>
                      </a:r>
                      <a:endParaRPr lang="en-US" sz="1800" b="0" i="0" u="none" strike="noStrike" dirty="0">
                        <a:solidFill>
                          <a:schemeClr val="tx1"/>
                        </a:solidFill>
                        <a:effectLst/>
                        <a:latin typeface="+mn-lt"/>
                      </a:endParaRPr>
                    </a:p>
                  </a:txBody>
                  <a:tcPr marL="288000" anchor="ctr"/>
                </a:tc>
                <a:tc>
                  <a:txBody>
                    <a:bodyPr/>
                    <a:lstStyle/>
                    <a:p>
                      <a:pPr algn="ctr" fontAlgn="b"/>
                      <a:r>
                        <a:rPr lang="en-US" sz="1800" b="0" i="0" u="none" strike="noStrike" dirty="0">
                          <a:solidFill>
                            <a:schemeClr val="tx1"/>
                          </a:solidFill>
                          <a:effectLst/>
                          <a:latin typeface="+mn-lt"/>
                        </a:rPr>
                        <a:t>Partial sort</a:t>
                      </a:r>
                    </a:p>
                  </a:txBody>
                  <a:tcPr anchor="ctr"/>
                </a:tc>
                <a:tc>
                  <a:txBody>
                    <a:bodyPr/>
                    <a:lstStyle/>
                    <a:p>
                      <a:pPr algn="ctr" fontAlgn="b"/>
                      <a:r>
                        <a:rPr lang="en-US" dirty="0"/>
                        <a:t>Thrust sort_by_key / top-k</a:t>
                      </a:r>
                      <a:endParaRPr lang="en-US" sz="1800" b="0" i="0" u="none" strike="noStrike" dirty="0">
                        <a:solidFill>
                          <a:schemeClr val="tx1"/>
                        </a:solidFill>
                        <a:effectLst/>
                        <a:latin typeface="+mn-lt"/>
                      </a:endParaRPr>
                    </a:p>
                  </a:txBody>
                  <a:tcPr anchor="ctr"/>
                </a:tc>
                <a:extLst>
                  <a:ext uri="{0D108BD9-81ED-4DB2-BD59-A6C34878D82A}">
                    <a16:rowId xmlns:a16="http://schemas.microsoft.com/office/drawing/2014/main" val="255711469"/>
                  </a:ext>
                </a:extLst>
              </a:tr>
              <a:tr h="731838">
                <a:tc>
                  <a:txBody>
                    <a:bodyPr/>
                    <a:lstStyle/>
                    <a:p>
                      <a:pPr lvl="1" algn="l" fontAlgn="b"/>
                      <a:r>
                        <a:rPr lang="en-US" dirty="0"/>
                        <a:t>Interpolation</a:t>
                      </a:r>
                      <a:endParaRPr lang="en-US" sz="1800" b="0" i="0" u="none" strike="noStrike" dirty="0">
                        <a:solidFill>
                          <a:schemeClr val="tx1"/>
                        </a:solidFill>
                        <a:effectLst/>
                        <a:latin typeface="+mn-lt"/>
                      </a:endParaRPr>
                    </a:p>
                  </a:txBody>
                  <a:tcPr marL="288000" anchor="ctr"/>
                </a:tc>
                <a:tc>
                  <a:txBody>
                    <a:bodyPr/>
                    <a:lstStyle/>
                    <a:p>
                      <a:pPr algn="ctr" fontAlgn="b"/>
                      <a:r>
                        <a:rPr lang="en-US" sz="1800" b="0" u="none" strike="noStrike" dirty="0">
                          <a:solidFill>
                            <a:schemeClr val="tx1"/>
                          </a:solidFill>
                          <a:effectLst/>
                        </a:rPr>
                        <a:t>CPU</a:t>
                      </a:r>
                      <a:endParaRPr lang="en-US" sz="1800" b="0" i="0" u="none" strike="noStrike" dirty="0">
                        <a:solidFill>
                          <a:schemeClr val="tx1"/>
                        </a:solidFill>
                        <a:effectLst/>
                        <a:latin typeface="+mn-lt"/>
                      </a:endParaRPr>
                    </a:p>
                  </a:txBody>
                  <a:tcPr anchor="ctr"/>
                </a:tc>
                <a:tc>
                  <a:txBody>
                    <a:bodyPr/>
                    <a:lstStyle/>
                    <a:p>
                      <a:pPr algn="ctr" fontAlgn="b"/>
                      <a:r>
                        <a:rPr lang="en-US" b="0" dirty="0"/>
                        <a:t>GPU or CPU (both options OK)</a:t>
                      </a:r>
                      <a:endParaRPr lang="en-US" sz="1800" b="0" i="0" u="none" strike="noStrike" dirty="0">
                        <a:solidFill>
                          <a:schemeClr val="tx1"/>
                        </a:solidFill>
                        <a:effectLst/>
                        <a:latin typeface="+mn-lt"/>
                      </a:endParaRPr>
                    </a:p>
                  </a:txBody>
                  <a:tcPr anchor="ctr"/>
                </a:tc>
                <a:extLst>
                  <a:ext uri="{0D108BD9-81ED-4DB2-BD59-A6C34878D82A}">
                    <a16:rowId xmlns:a16="http://schemas.microsoft.com/office/drawing/2014/main" val="1498944196"/>
                  </a:ext>
                </a:extLst>
              </a:tr>
              <a:tr h="731838">
                <a:tc>
                  <a:txBody>
                    <a:bodyPr/>
                    <a:lstStyle/>
                    <a:p>
                      <a:pPr lvl="1" algn="l" fontAlgn="b"/>
                      <a:r>
                        <a:rPr lang="en-US" dirty="0"/>
                        <a:t>Write CSV</a:t>
                      </a:r>
                      <a:endParaRPr lang="en-US" sz="1800" b="0" i="0" u="none" strike="noStrike" dirty="0">
                        <a:solidFill>
                          <a:schemeClr val="tx1"/>
                        </a:solidFill>
                        <a:effectLst/>
                        <a:latin typeface="+mn-lt"/>
                      </a:endParaRPr>
                    </a:p>
                  </a:txBody>
                  <a:tcPr marL="288000" anchor="ctr"/>
                </a:tc>
                <a:tc>
                  <a:txBody>
                    <a:bodyPr/>
                    <a:lstStyle/>
                    <a:p>
                      <a:pPr algn="ctr" fontAlgn="b"/>
                      <a:r>
                        <a:rPr lang="en-US" sz="1800" b="0" u="none" strike="noStrike" dirty="0">
                          <a:solidFill>
                            <a:schemeClr val="tx1"/>
                          </a:solidFill>
                          <a:effectLst/>
                        </a:rPr>
                        <a:t>CPU</a:t>
                      </a:r>
                      <a:endParaRPr lang="en-US" sz="1800" b="0" i="0" u="none" strike="noStrike" dirty="0">
                        <a:solidFill>
                          <a:schemeClr val="tx1"/>
                        </a:solidFill>
                        <a:effectLst/>
                        <a:latin typeface="+mn-lt"/>
                      </a:endParaRPr>
                    </a:p>
                  </a:txBody>
                  <a:tcPr anchor="ctr"/>
                </a:tc>
                <a:tc>
                  <a:txBody>
                    <a:bodyPr/>
                    <a:lstStyle/>
                    <a:p>
                      <a:pPr algn="ctr" fontAlgn="b"/>
                      <a:r>
                        <a:rPr lang="en-US" sz="1800" b="0" u="none" strike="noStrike" dirty="0">
                          <a:solidFill>
                            <a:schemeClr val="tx1"/>
                          </a:solidFill>
                          <a:effectLst/>
                        </a:rPr>
                        <a:t>CPU</a:t>
                      </a:r>
                      <a:endParaRPr lang="en-US" sz="1800" b="0" i="0" u="none" strike="noStrike" dirty="0">
                        <a:solidFill>
                          <a:schemeClr val="tx1"/>
                        </a:solidFill>
                        <a:effectLst/>
                        <a:latin typeface="+mn-lt"/>
                      </a:endParaRPr>
                    </a:p>
                  </a:txBody>
                  <a:tcPr anchor="ctr"/>
                </a:tc>
                <a:extLst>
                  <a:ext uri="{0D108BD9-81ED-4DB2-BD59-A6C34878D82A}">
                    <a16:rowId xmlns:a16="http://schemas.microsoft.com/office/drawing/2014/main" val="2561606819"/>
                  </a:ext>
                </a:extLst>
              </a:tr>
            </a:tbl>
          </a:graphicData>
        </a:graphic>
      </p:graphicFrame>
    </p:spTree>
    <p:extLst>
      <p:ext uri="{BB962C8B-B14F-4D97-AF65-F5344CB8AC3E}">
        <p14:creationId xmlns:p14="http://schemas.microsoft.com/office/powerpoint/2010/main" val="232350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01D7-556B-7AD1-BDB9-3531010C51BE}"/>
              </a:ext>
            </a:extLst>
          </p:cNvPr>
          <p:cNvSpPr>
            <a:spLocks noGrp="1"/>
          </p:cNvSpPr>
          <p:nvPr>
            <p:ph type="title"/>
          </p:nvPr>
        </p:nvSpPr>
        <p:spPr>
          <a:xfrm>
            <a:off x="1267325" y="68911"/>
            <a:ext cx="10363202" cy="1603462"/>
          </a:xfrm>
        </p:spPr>
        <p:txBody>
          <a:bodyPr/>
          <a:lstStyle/>
          <a:p>
            <a:r>
              <a:rPr lang="en-US" dirty="0"/>
              <a:t>CPU VS. GPU: Testing Pipeline</a:t>
            </a:r>
          </a:p>
        </p:txBody>
      </p:sp>
      <p:sp>
        <p:nvSpPr>
          <p:cNvPr id="10" name="TextBox 9">
            <a:extLst>
              <a:ext uri="{FF2B5EF4-FFF2-40B4-BE49-F238E27FC236}">
                <a16:creationId xmlns:a16="http://schemas.microsoft.com/office/drawing/2014/main" id="{06CA9758-83B8-38E1-EC3B-37CA0C72CD1E}"/>
              </a:ext>
            </a:extLst>
          </p:cNvPr>
          <p:cNvSpPr txBox="1"/>
          <p:nvPr/>
        </p:nvSpPr>
        <p:spPr>
          <a:xfrm>
            <a:off x="1395661" y="1493648"/>
            <a:ext cx="7130716"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rPr>
              <a:t>Dataset generation:</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Used benchmark_smote.py to create datasets (N=10,000 samples).</a:t>
            </a:r>
          </a:p>
          <a:p>
            <a:pPr marL="457200" marR="0" lvl="1" indent="0" algn="l" defTabSz="914400" rtl="0" eaLnBrk="0" fontAlgn="base" latinLnBrk="0" hangingPunct="0">
              <a:lnSpc>
                <a:spcPct val="100000"/>
              </a:lnSpc>
              <a:spcBef>
                <a:spcPct val="0"/>
              </a:spcBef>
              <a:spcAft>
                <a:spcPct val="0"/>
              </a:spcAft>
              <a:buClrTx/>
              <a:buSzTx/>
              <a:tabLst/>
            </a:pPr>
            <a:r>
              <a:rPr lang="en-US" altLang="en-US" sz="1600" dirty="0"/>
              <a:t>- </a:t>
            </a:r>
            <a:r>
              <a:rPr kumimoji="0" lang="en-US" altLang="en-US" sz="1600" b="0" i="0" u="none" strike="noStrike" cap="none" normalizeH="0" baseline="0" dirty="0">
                <a:ln>
                  <a:noFill/>
                </a:ln>
                <a:solidFill>
                  <a:schemeClr val="tx1"/>
                </a:solidFill>
                <a:effectLst/>
              </a:rPr>
              <a:t>Varied </a:t>
            </a:r>
            <a:r>
              <a:rPr kumimoji="0" lang="en-US" altLang="en-US" sz="1600" b="1" i="0" u="none" strike="noStrike" cap="none" normalizeH="0" baseline="0" dirty="0">
                <a:ln>
                  <a:noFill/>
                </a:ln>
                <a:solidFill>
                  <a:schemeClr val="tx1"/>
                </a:solidFill>
                <a:effectLst/>
              </a:rPr>
              <a:t>features (10–1000)</a:t>
            </a:r>
            <a:r>
              <a:rPr kumimoji="0" lang="en-US" altLang="en-US" sz="1600" b="0" i="0" u="none" strike="noStrike" cap="none" normalizeH="0" baseline="0" dirty="0">
                <a:ln>
                  <a:noFill/>
                </a:ln>
                <a:solidFill>
                  <a:schemeClr val="tx1"/>
                </a:solidFill>
                <a:effectLst/>
              </a:rPr>
              <a:t> and </a:t>
            </a:r>
            <a:r>
              <a:rPr kumimoji="0" lang="en-US" altLang="en-US" sz="1600" b="1" i="0" u="none" strike="noStrike" cap="none" normalizeH="0" baseline="0" dirty="0">
                <a:ln>
                  <a:noFill/>
                </a:ln>
                <a:solidFill>
                  <a:schemeClr val="tx1"/>
                </a:solidFill>
                <a:effectLst/>
              </a:rPr>
              <a:t>minority proportion (1–40%)</a:t>
            </a:r>
            <a:r>
              <a:rPr kumimoji="0" lang="en-US" altLang="en-US" sz="16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Produced a full set of CSVs (see image).</a:t>
            </a:r>
          </a:p>
        </p:txBody>
      </p:sp>
      <p:sp>
        <p:nvSpPr>
          <p:cNvPr id="12" name="TextBox 11">
            <a:extLst>
              <a:ext uri="{FF2B5EF4-FFF2-40B4-BE49-F238E27FC236}">
                <a16:creationId xmlns:a16="http://schemas.microsoft.com/office/drawing/2014/main" id="{C0DFDA89-2004-8A21-C603-FC928DF477F0}"/>
              </a:ext>
            </a:extLst>
          </p:cNvPr>
          <p:cNvSpPr txBox="1"/>
          <p:nvPr/>
        </p:nvSpPr>
        <p:spPr>
          <a:xfrm>
            <a:off x="1395661" y="2741802"/>
            <a:ext cx="7178841"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rPr>
              <a:t>Timing runs:</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Benchmarked both CPU and GPU versions.</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Logged results in timings.csv.</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Paired CPU/GPU results into timings_paired.csv for speedup calculations.</a:t>
            </a:r>
          </a:p>
        </p:txBody>
      </p:sp>
      <p:sp>
        <p:nvSpPr>
          <p:cNvPr id="14" name="TextBox 13">
            <a:extLst>
              <a:ext uri="{FF2B5EF4-FFF2-40B4-BE49-F238E27FC236}">
                <a16:creationId xmlns:a16="http://schemas.microsoft.com/office/drawing/2014/main" id="{DD5645D4-89D8-63E5-8B3F-38D18B72D5CE}"/>
              </a:ext>
            </a:extLst>
          </p:cNvPr>
          <p:cNvSpPr txBox="1"/>
          <p:nvPr/>
        </p:nvSpPr>
        <p:spPr>
          <a:xfrm>
            <a:off x="1395661" y="3956192"/>
            <a:ext cx="7130716" cy="13542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rPr>
              <a:t>Visualization:</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Used plot_speedups_combined.py to generate:</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rPr>
              <a:t>Heatmap</a:t>
            </a:r>
            <a:r>
              <a:rPr kumimoji="0" lang="en-US" altLang="en-US" sz="1600" b="0" i="0" u="none" strike="noStrike" cap="none" normalizeH="0" baseline="0" dirty="0">
                <a:ln>
                  <a:noFill/>
                </a:ln>
                <a:solidFill>
                  <a:schemeClr val="tx1"/>
                </a:solidFill>
                <a:effectLst/>
              </a:rPr>
              <a:t> → overall parameter space.</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rPr>
              <a:t>Speedup vs Features</a:t>
            </a:r>
            <a:r>
              <a:rPr kumimoji="0" lang="en-US" altLang="en-US" sz="1600" b="0" i="0" u="none" strike="noStrike" cap="none" normalizeH="0" baseline="0" dirty="0">
                <a:ln>
                  <a:noFill/>
                </a:ln>
                <a:solidFill>
                  <a:schemeClr val="tx1"/>
                </a:solidFill>
                <a:effectLst/>
              </a:rPr>
              <a:t> → dimensionality effects.</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rPr>
              <a:t>Speedup vs Minority %</a:t>
            </a:r>
            <a:r>
              <a:rPr kumimoji="0" lang="en-US" altLang="en-US" sz="1600" b="0" i="0" u="none" strike="noStrike" cap="none" normalizeH="0" baseline="0" dirty="0">
                <a:ln>
                  <a:noFill/>
                </a:ln>
                <a:solidFill>
                  <a:schemeClr val="tx1"/>
                </a:solidFill>
                <a:effectLst/>
              </a:rPr>
              <a:t> → workload effects.</a:t>
            </a:r>
          </a:p>
        </p:txBody>
      </p:sp>
      <p:sp>
        <p:nvSpPr>
          <p:cNvPr id="16" name="TextBox 15">
            <a:extLst>
              <a:ext uri="{FF2B5EF4-FFF2-40B4-BE49-F238E27FC236}">
                <a16:creationId xmlns:a16="http://schemas.microsoft.com/office/drawing/2014/main" id="{01CE3F9A-811F-41A6-36EF-72A3EC468682}"/>
              </a:ext>
            </a:extLst>
          </p:cNvPr>
          <p:cNvSpPr txBox="1"/>
          <p:nvPr/>
        </p:nvSpPr>
        <p:spPr>
          <a:xfrm>
            <a:off x="1395661" y="5310409"/>
            <a:ext cx="8373981"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rPr>
              <a:t>Purpose:</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End-to-end process ensured fair comparison.</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 Allowed me to check if GPU acceleration </a:t>
            </a:r>
            <a:r>
              <a:rPr kumimoji="0" lang="en-US" altLang="en-US" sz="1600" b="0" i="1" u="none" strike="noStrike" cap="none" normalizeH="0" baseline="0" dirty="0">
                <a:ln>
                  <a:noFill/>
                </a:ln>
                <a:solidFill>
                  <a:schemeClr val="tx1"/>
                </a:solidFill>
                <a:effectLst/>
              </a:rPr>
              <a:t>actually</a:t>
            </a:r>
            <a:r>
              <a:rPr kumimoji="0" lang="en-US" altLang="en-US" sz="1600" b="0" i="0" u="none" strike="noStrike" cap="none" normalizeH="0" baseline="0" dirty="0">
                <a:ln>
                  <a:noFill/>
                </a:ln>
                <a:solidFill>
                  <a:schemeClr val="tx1"/>
                </a:solidFill>
                <a:effectLst/>
              </a:rPr>
              <a:t> made a difference and under what conditions.</a:t>
            </a:r>
          </a:p>
        </p:txBody>
      </p:sp>
    </p:spTree>
    <p:extLst>
      <p:ext uri="{BB962C8B-B14F-4D97-AF65-F5344CB8AC3E}">
        <p14:creationId xmlns:p14="http://schemas.microsoft.com/office/powerpoint/2010/main" val="1710727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914400" y="518599"/>
            <a:ext cx="9673232" cy="713034"/>
          </a:xfrm>
        </p:spPr>
        <p:txBody>
          <a:bodyPr/>
          <a:lstStyle/>
          <a:p>
            <a:r>
              <a:rPr lang="en-US" dirty="0" err="1"/>
              <a:t>Cpu</a:t>
            </a:r>
            <a:r>
              <a:rPr lang="en-US" dirty="0"/>
              <a:t> Vs. </a:t>
            </a:r>
            <a:r>
              <a:rPr lang="en-US" dirty="0" err="1"/>
              <a:t>Gpu</a:t>
            </a:r>
            <a:r>
              <a:rPr lang="en-US" dirty="0"/>
              <a:t> Testing: Plot Overview </a:t>
            </a:r>
          </a:p>
        </p:txBody>
      </p:sp>
      <p:sp>
        <p:nvSpPr>
          <p:cNvPr id="4" name="Rectangle 1">
            <a:extLst>
              <a:ext uri="{FF2B5EF4-FFF2-40B4-BE49-F238E27FC236}">
                <a16:creationId xmlns:a16="http://schemas.microsoft.com/office/drawing/2014/main" id="{CCDBB91F-2D46-9A02-7F62-8D2F831A1AEE}"/>
              </a:ext>
            </a:extLst>
          </p:cNvPr>
          <p:cNvSpPr>
            <a:spLocks noChangeArrowheads="1"/>
          </p:cNvSpPr>
          <p:nvPr/>
        </p:nvSpPr>
        <p:spPr bwMode="auto">
          <a:xfrm>
            <a:off x="692045" y="1912021"/>
            <a:ext cx="1144249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rPr>
              <a:t>Speedup Heatmap:</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Purpose:</a:t>
            </a:r>
            <a:r>
              <a:rPr kumimoji="0" lang="en-US" altLang="en-US" sz="1400" b="0" i="0" u="none" strike="noStrike" cap="none" normalizeH="0" baseline="0" dirty="0">
                <a:ln>
                  <a:noFill/>
                </a:ln>
                <a:solidFill>
                  <a:schemeClr val="tx1"/>
                </a:solidFill>
                <a:effectLst/>
              </a:rPr>
              <a:t> Shows the entire parameter space (features × minority %).</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Why chosen:</a:t>
            </a:r>
            <a:r>
              <a:rPr kumimoji="0" lang="en-US" altLang="en-US" sz="1400" b="0" i="0" u="none" strike="noStrike" cap="none" normalizeH="0" baseline="0" dirty="0">
                <a:ln>
                  <a:noFill/>
                </a:ln>
                <a:solidFill>
                  <a:schemeClr val="tx1"/>
                </a:solidFill>
                <a:effectLst/>
              </a:rPr>
              <a:t> Helps quickly spot whether there are regions where the GPU clearly outperforms the CPU.</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Framing:</a:t>
            </a:r>
            <a:r>
              <a:rPr kumimoji="0" lang="en-US" altLang="en-US" sz="1400" b="0" i="0" u="none" strike="noStrike" cap="none" normalizeH="0" baseline="0" dirty="0">
                <a:ln>
                  <a:noFill/>
                </a:ln>
                <a:solidFill>
                  <a:schemeClr val="tx1"/>
                </a:solidFill>
                <a:effectLst/>
              </a:rPr>
              <a:t> I wanted a bird’s-eye view to check if GPU acceleration is consistent across settings, or if it only appears in specific cases.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7" name="Rectangle 3">
            <a:extLst>
              <a:ext uri="{FF2B5EF4-FFF2-40B4-BE49-F238E27FC236}">
                <a16:creationId xmlns:a16="http://schemas.microsoft.com/office/drawing/2014/main" id="{1D3E24B7-AED0-ECFF-CDA0-ED27BA8830A9}"/>
              </a:ext>
            </a:extLst>
          </p:cNvPr>
          <p:cNvSpPr>
            <a:spLocks noChangeArrowheads="1"/>
          </p:cNvSpPr>
          <p:nvPr/>
        </p:nvSpPr>
        <p:spPr bwMode="auto">
          <a:xfrm>
            <a:off x="692045" y="3312442"/>
            <a:ext cx="9451946" cy="167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rPr>
              <a:t>Speedup vs Features (line plot)</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Purpose:</a:t>
            </a:r>
            <a:r>
              <a:rPr kumimoji="0" lang="en-US" altLang="en-US" sz="1400" b="0" i="0" u="none" strike="noStrike" cap="none" normalizeH="0" baseline="0" dirty="0">
                <a:ln>
                  <a:noFill/>
                </a:ln>
                <a:solidFill>
                  <a:schemeClr val="tx1"/>
                </a:solidFill>
                <a:effectLst/>
              </a:rPr>
              <a:t> Examines how performance changes as the number of features increases.</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Why chosen:</a:t>
            </a:r>
            <a:r>
              <a:rPr kumimoji="0" lang="en-US" altLang="en-US" sz="1400" b="0" i="0" u="none" strike="noStrike" cap="none" normalizeH="0" baseline="0" dirty="0">
                <a:ln>
                  <a:noFill/>
                </a:ln>
                <a:solidFill>
                  <a:schemeClr val="tx1"/>
                </a:solidFill>
                <a:effectLst/>
              </a:rPr>
              <a:t> Increasing feature dimensionality directly affects computational workload.</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Framing:</a:t>
            </a:r>
            <a:r>
              <a:rPr kumimoji="0" lang="en-US" altLang="en-US" sz="1400" b="0" i="0" u="none" strike="noStrike" cap="none" normalizeH="0" baseline="0" dirty="0">
                <a:ln>
                  <a:noFill/>
                </a:ln>
                <a:solidFill>
                  <a:schemeClr val="tx1"/>
                </a:solidFill>
                <a:effectLst/>
              </a:rPr>
              <a:t> I chose this to test if the GPU advantage grows with higher feature counts, or if the CPU remains competitive.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9" name="Rectangle 5">
            <a:extLst>
              <a:ext uri="{FF2B5EF4-FFF2-40B4-BE49-F238E27FC236}">
                <a16:creationId xmlns:a16="http://schemas.microsoft.com/office/drawing/2014/main" id="{4E02A314-C35E-7EC7-2271-19F84D89C8B8}"/>
              </a:ext>
            </a:extLst>
          </p:cNvPr>
          <p:cNvSpPr>
            <a:spLocks noChangeArrowheads="1"/>
          </p:cNvSpPr>
          <p:nvPr/>
        </p:nvSpPr>
        <p:spPr bwMode="auto">
          <a:xfrm>
            <a:off x="634583" y="4712863"/>
            <a:ext cx="11557417" cy="167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rPr>
              <a:t>Speedup vs Minority % (line plot)</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400" dirty="0"/>
              <a:t>- </a:t>
            </a:r>
            <a:r>
              <a:rPr kumimoji="0" lang="en-US" altLang="en-US" sz="1400" b="1" i="0" u="none" strike="noStrike" cap="none" normalizeH="0" baseline="0" dirty="0">
                <a:ln>
                  <a:noFill/>
                </a:ln>
                <a:solidFill>
                  <a:schemeClr val="tx1"/>
                </a:solidFill>
                <a:effectLst/>
              </a:rPr>
              <a:t>Purpose:</a:t>
            </a:r>
            <a:r>
              <a:rPr kumimoji="0" lang="en-US" altLang="en-US" sz="1400" b="0" i="0" u="none" strike="noStrike" cap="none" normalizeH="0" baseline="0" dirty="0">
                <a:ln>
                  <a:noFill/>
                </a:ln>
                <a:solidFill>
                  <a:schemeClr val="tx1"/>
                </a:solidFill>
                <a:effectLst/>
              </a:rPr>
              <a:t> Examines how performance changes as the proportion of minority samples increases.</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Why chosen:</a:t>
            </a:r>
            <a:r>
              <a:rPr kumimoji="0" lang="en-US" altLang="en-US" sz="1400" b="0" i="0" u="none" strike="noStrike" cap="none" normalizeH="0" baseline="0" dirty="0">
                <a:ln>
                  <a:noFill/>
                </a:ln>
                <a:solidFill>
                  <a:schemeClr val="tx1"/>
                </a:solidFill>
                <a:effectLst/>
              </a:rPr>
              <a:t> More imbalance means more synthetic samples to generate, which may stress the CPU differently than the GPU.</a:t>
            </a:r>
          </a:p>
          <a:p>
            <a:pPr marL="0" marR="0" lvl="0" indent="0" algn="l" defTabSz="914400" rtl="0" eaLnBrk="0" fontAlgn="base" latinLnBrk="0" hangingPunct="0">
              <a:lnSpc>
                <a:spcPct val="15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 Framing:</a:t>
            </a:r>
            <a:r>
              <a:rPr kumimoji="0" lang="en-US" altLang="en-US" sz="1400" b="0" i="0" u="none" strike="noStrike" cap="none" normalizeH="0" baseline="0" dirty="0">
                <a:ln>
                  <a:noFill/>
                </a:ln>
                <a:solidFill>
                  <a:schemeClr val="tx1"/>
                </a:solidFill>
                <a:effectLst/>
              </a:rPr>
              <a:t> I chose this to see if the GPU only helps when augmentation is heavy, or whether it also speeds up smaller imbalances.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2A1FCAC5-0FA1-859B-BECA-947BEAC36579}"/>
              </a:ext>
            </a:extLst>
          </p:cNvPr>
          <p:cNvSpPr txBox="1"/>
          <p:nvPr/>
        </p:nvSpPr>
        <p:spPr>
          <a:xfrm>
            <a:off x="692045" y="1327246"/>
            <a:ext cx="8949128" cy="584775"/>
          </a:xfrm>
          <a:prstGeom prst="rect">
            <a:avLst/>
          </a:prstGeom>
          <a:noFill/>
        </p:spPr>
        <p:txBody>
          <a:bodyPr wrap="square" rtlCol="0">
            <a:spAutoFit/>
          </a:bodyPr>
          <a:lstStyle/>
          <a:p>
            <a:r>
              <a:rPr lang="en-US" sz="1600" dirty="0"/>
              <a:t>To evaluate whether the GPU provides a meaningful speedup for SMOTE-style data augmentation, I selected three complementary plots.</a:t>
            </a:r>
          </a:p>
        </p:txBody>
      </p:sp>
    </p:spTree>
    <p:extLst>
      <p:ext uri="{BB962C8B-B14F-4D97-AF65-F5344CB8AC3E}">
        <p14:creationId xmlns:p14="http://schemas.microsoft.com/office/powerpoint/2010/main" val="430403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F155C-9167-ACFD-6DF5-653889EE8402}"/>
              </a:ext>
            </a:extLst>
          </p:cNvPr>
          <p:cNvSpPr>
            <a:spLocks noGrp="1"/>
          </p:cNvSpPr>
          <p:nvPr>
            <p:ph type="title"/>
          </p:nvPr>
        </p:nvSpPr>
        <p:spPr>
          <a:xfrm>
            <a:off x="876299" y="41485"/>
            <a:ext cx="10439401" cy="1617017"/>
          </a:xfrm>
        </p:spPr>
        <p:txBody>
          <a:bodyPr/>
          <a:lstStyle/>
          <a:p>
            <a:r>
              <a:rPr lang="en-US" dirty="0"/>
              <a:t>Speedup Heatmap (N = 10,000)</a:t>
            </a:r>
          </a:p>
        </p:txBody>
      </p:sp>
      <p:pic>
        <p:nvPicPr>
          <p:cNvPr id="7" name="Picture 6" descr="A chart of different colors">
            <a:extLst>
              <a:ext uri="{FF2B5EF4-FFF2-40B4-BE49-F238E27FC236}">
                <a16:creationId xmlns:a16="http://schemas.microsoft.com/office/drawing/2014/main" id="{FB9D7BF5-C6C5-E020-A3A0-E46F98AA6653}"/>
              </a:ext>
            </a:extLst>
          </p:cNvPr>
          <p:cNvPicPr>
            <a:picLocks noChangeAspect="1"/>
          </p:cNvPicPr>
          <p:nvPr/>
        </p:nvPicPr>
        <p:blipFill>
          <a:blip r:embed="rId3"/>
          <a:stretch>
            <a:fillRect/>
          </a:stretch>
        </p:blipFill>
        <p:spPr>
          <a:xfrm>
            <a:off x="350376" y="1658502"/>
            <a:ext cx="5584911" cy="4188683"/>
          </a:xfrm>
          <a:prstGeom prst="rect">
            <a:avLst/>
          </a:prstGeom>
        </p:spPr>
      </p:pic>
      <p:sp>
        <p:nvSpPr>
          <p:cNvPr id="9" name="TextBox 8">
            <a:extLst>
              <a:ext uri="{FF2B5EF4-FFF2-40B4-BE49-F238E27FC236}">
                <a16:creationId xmlns:a16="http://schemas.microsoft.com/office/drawing/2014/main" id="{97C43EF5-58F3-65DA-FDD2-D41D37C416BE}"/>
              </a:ext>
            </a:extLst>
          </p:cNvPr>
          <p:cNvSpPr txBox="1"/>
          <p:nvPr/>
        </p:nvSpPr>
        <p:spPr>
          <a:xfrm>
            <a:off x="6096000" y="1520304"/>
            <a:ext cx="5932984" cy="5016758"/>
          </a:xfrm>
          <a:prstGeom prst="rect">
            <a:avLst/>
          </a:prstGeom>
          <a:noFill/>
        </p:spPr>
        <p:txBody>
          <a:bodyPr wrap="square">
            <a:spAutoFit/>
          </a:bodyPr>
          <a:lstStyle/>
          <a:p>
            <a:r>
              <a:rPr lang="en-US" sz="1600" b="1" dirty="0"/>
              <a:t>What it shows:</a:t>
            </a:r>
            <a:br>
              <a:rPr lang="en-US" sz="1600" dirty="0"/>
            </a:br>
            <a:r>
              <a:rPr lang="en-US" sz="1600" dirty="0"/>
              <a:t>The heatmap places number of features (F) on the vertical axis and minority class proportion on the horizontal axis, with color intensity representing GPU speedup (CPU time ÷ GPU time).</a:t>
            </a:r>
          </a:p>
          <a:p>
            <a:endParaRPr lang="en-US" sz="1600" dirty="0"/>
          </a:p>
          <a:p>
            <a:r>
              <a:rPr lang="en-US" sz="1600" b="1" dirty="0"/>
              <a:t>Story:</a:t>
            </a:r>
            <a:br>
              <a:rPr lang="en-US" sz="1600" dirty="0"/>
            </a:br>
            <a:r>
              <a:rPr lang="en-US" sz="1600" dirty="0"/>
              <a:t>For small problems (low F = 10–100 and low minority %), speedups remain modest or near parity, since GPU launch overhead cancels out the advantage and CPU remains competitive. As feature dimensionality grows (F ≥ 500) and minority share increases, GPU acceleration scales dramatically, with speedups in the hundreds as more synthetic samples drive larger workloads. The top-right white/yellow regions highlight extreme GPU dominance, up to ~700× faster than CPU.</a:t>
            </a:r>
          </a:p>
          <a:p>
            <a:endParaRPr lang="en-US" sz="1600" dirty="0"/>
          </a:p>
          <a:p>
            <a:r>
              <a:rPr lang="en-US" sz="1600" b="1" dirty="0"/>
              <a:t>Takeaway:</a:t>
            </a:r>
            <a:br>
              <a:rPr lang="en-US" sz="1600" dirty="0"/>
            </a:br>
            <a:r>
              <a:rPr lang="en-US" sz="1600" dirty="0"/>
              <a:t>GPUs provide little benefit for small toy datasets but become essential for large, high-dimensional, and imbalanced augmentation tasks, where they deliver orders-of-magnitude improvements.</a:t>
            </a:r>
          </a:p>
        </p:txBody>
      </p:sp>
    </p:spTree>
    <p:extLst>
      <p:ext uri="{BB962C8B-B14F-4D97-AF65-F5344CB8AC3E}">
        <p14:creationId xmlns:p14="http://schemas.microsoft.com/office/powerpoint/2010/main" val="980479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A774D-77E1-FB73-7986-55A7DA7D3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6E7C4-B74F-DB00-08E6-1CFB0126FA7A}"/>
              </a:ext>
            </a:extLst>
          </p:cNvPr>
          <p:cNvSpPr>
            <a:spLocks noGrp="1"/>
          </p:cNvSpPr>
          <p:nvPr>
            <p:ph type="title"/>
          </p:nvPr>
        </p:nvSpPr>
        <p:spPr>
          <a:xfrm>
            <a:off x="876299" y="41485"/>
            <a:ext cx="10439401" cy="1617017"/>
          </a:xfrm>
        </p:spPr>
        <p:txBody>
          <a:bodyPr/>
          <a:lstStyle/>
          <a:p>
            <a:r>
              <a:rPr lang="en-US" dirty="0"/>
              <a:t>Speedup vs Features (N = 10,000) </a:t>
            </a:r>
            <a:r>
              <a:rPr lang="en-US" sz="1200" dirty="0"/>
              <a:t>/</a:t>
            </a:r>
            <a:r>
              <a:rPr lang="en-US" sz="1050" dirty="0"/>
              <a:t>w</a:t>
            </a:r>
            <a:r>
              <a:rPr lang="en-US" sz="1200" dirty="0"/>
              <a:t> fixed minority %</a:t>
            </a:r>
            <a:endParaRPr lang="en-US" dirty="0"/>
          </a:p>
        </p:txBody>
      </p:sp>
      <p:sp>
        <p:nvSpPr>
          <p:cNvPr id="9" name="TextBox 8">
            <a:extLst>
              <a:ext uri="{FF2B5EF4-FFF2-40B4-BE49-F238E27FC236}">
                <a16:creationId xmlns:a16="http://schemas.microsoft.com/office/drawing/2014/main" id="{A369E478-96DF-9710-45F5-8B30F5B5D390}"/>
              </a:ext>
            </a:extLst>
          </p:cNvPr>
          <p:cNvSpPr txBox="1"/>
          <p:nvPr/>
        </p:nvSpPr>
        <p:spPr>
          <a:xfrm>
            <a:off x="6096000" y="1520304"/>
            <a:ext cx="5932984" cy="4770537"/>
          </a:xfrm>
          <a:prstGeom prst="rect">
            <a:avLst/>
          </a:prstGeom>
          <a:noFill/>
        </p:spPr>
        <p:txBody>
          <a:bodyPr wrap="square">
            <a:spAutoFit/>
          </a:bodyPr>
          <a:lstStyle/>
          <a:p>
            <a:r>
              <a:rPr lang="en-US" sz="1600" b="1" dirty="0"/>
              <a:t>What it shows:</a:t>
            </a:r>
            <a:br>
              <a:rPr lang="en-US" sz="1600" dirty="0"/>
            </a:br>
            <a:r>
              <a:rPr lang="en-US" sz="1600" dirty="0"/>
              <a:t>Each curve fixes a minority percentage (e.g., 1%–40%) and varies the number of features. The y-axis tracks speedup, so we can see how GPU performance scales as dimensionality increases.</a:t>
            </a:r>
          </a:p>
          <a:p>
            <a:endParaRPr lang="en-US" sz="1600" dirty="0"/>
          </a:p>
          <a:p>
            <a:r>
              <a:rPr lang="en-US" sz="1600" b="1" dirty="0"/>
              <a:t>Story:</a:t>
            </a:r>
            <a:br>
              <a:rPr lang="en-US" sz="1600" dirty="0"/>
            </a:br>
            <a:r>
              <a:rPr lang="en-US" sz="1600" dirty="0"/>
              <a:t>At very small feature sizes (F ≤ 50), GPU speedup is modest (about 1×–10×), meaning the CPU remains competitive. But as the feature count rises, GPU acceleration climbs steeply. At F = 1000, speedups range from 200× to 700× depending on the minority share. Higher minority percentages (10–40%) push the curves even higher, since generating more synthetic samples boosts the GPU’s parallelism advantage.</a:t>
            </a:r>
          </a:p>
          <a:p>
            <a:endParaRPr lang="en-US" sz="1600" dirty="0"/>
          </a:p>
          <a:p>
            <a:r>
              <a:rPr lang="en-US" sz="1600" b="1" dirty="0"/>
              <a:t>Takeaway:</a:t>
            </a:r>
            <a:br>
              <a:rPr lang="en-US" sz="1600" dirty="0"/>
            </a:br>
            <a:r>
              <a:rPr lang="en-US" sz="1600" dirty="0"/>
              <a:t>GPU acceleration doesn’t just help at large scales — it transforms performance. Once datasets reach hundreds or thousands of features, GPUs show clear and scalable dominance, making them the practical choice for high-dimensional problems.</a:t>
            </a:r>
          </a:p>
        </p:txBody>
      </p:sp>
      <p:pic>
        <p:nvPicPr>
          <p:cNvPr id="4" name="Picture 3" descr="A graph of different colored lines&#10;&#10;AI-generated content may be incorrect.">
            <a:extLst>
              <a:ext uri="{FF2B5EF4-FFF2-40B4-BE49-F238E27FC236}">
                <a16:creationId xmlns:a16="http://schemas.microsoft.com/office/drawing/2014/main" id="{73E508B5-7808-637E-13F6-B337B82A490E}"/>
              </a:ext>
            </a:extLst>
          </p:cNvPr>
          <p:cNvPicPr>
            <a:picLocks noChangeAspect="1"/>
          </p:cNvPicPr>
          <p:nvPr/>
        </p:nvPicPr>
        <p:blipFill>
          <a:blip r:embed="rId3"/>
          <a:stretch>
            <a:fillRect/>
          </a:stretch>
        </p:blipFill>
        <p:spPr>
          <a:xfrm>
            <a:off x="385049" y="1658502"/>
            <a:ext cx="5547763" cy="4160822"/>
          </a:xfrm>
          <a:prstGeom prst="rect">
            <a:avLst/>
          </a:prstGeom>
        </p:spPr>
      </p:pic>
    </p:spTree>
    <p:extLst>
      <p:ext uri="{BB962C8B-B14F-4D97-AF65-F5344CB8AC3E}">
        <p14:creationId xmlns:p14="http://schemas.microsoft.com/office/powerpoint/2010/main" val="347443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E1282-8C4C-3B8B-B34D-C9A311327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F199D-7A19-26A2-81CA-81DE312AF6A9}"/>
              </a:ext>
            </a:extLst>
          </p:cNvPr>
          <p:cNvSpPr>
            <a:spLocks noGrp="1"/>
          </p:cNvSpPr>
          <p:nvPr>
            <p:ph type="title"/>
          </p:nvPr>
        </p:nvSpPr>
        <p:spPr>
          <a:xfrm>
            <a:off x="876299" y="41485"/>
            <a:ext cx="10439401" cy="1617017"/>
          </a:xfrm>
        </p:spPr>
        <p:txBody>
          <a:bodyPr/>
          <a:lstStyle/>
          <a:p>
            <a:r>
              <a:rPr lang="en-US" dirty="0"/>
              <a:t>Speedup vs Features (N = 10,000) </a:t>
            </a:r>
            <a:r>
              <a:rPr lang="en-US" sz="1200" dirty="0"/>
              <a:t>/</a:t>
            </a:r>
            <a:r>
              <a:rPr lang="en-US" sz="1050" dirty="0"/>
              <a:t>w</a:t>
            </a:r>
            <a:r>
              <a:rPr lang="en-US" sz="1200" dirty="0"/>
              <a:t> fixed minority %</a:t>
            </a:r>
            <a:endParaRPr lang="en-US" dirty="0"/>
          </a:p>
        </p:txBody>
      </p:sp>
      <p:sp>
        <p:nvSpPr>
          <p:cNvPr id="9" name="TextBox 8">
            <a:extLst>
              <a:ext uri="{FF2B5EF4-FFF2-40B4-BE49-F238E27FC236}">
                <a16:creationId xmlns:a16="http://schemas.microsoft.com/office/drawing/2014/main" id="{65521F15-FB6E-5EDB-40F6-B36B3393EBBF}"/>
              </a:ext>
            </a:extLst>
          </p:cNvPr>
          <p:cNvSpPr txBox="1"/>
          <p:nvPr/>
        </p:nvSpPr>
        <p:spPr>
          <a:xfrm>
            <a:off x="6096000" y="1520304"/>
            <a:ext cx="5932984" cy="4770537"/>
          </a:xfrm>
          <a:prstGeom prst="rect">
            <a:avLst/>
          </a:prstGeom>
          <a:noFill/>
        </p:spPr>
        <p:txBody>
          <a:bodyPr wrap="square">
            <a:spAutoFit/>
          </a:bodyPr>
          <a:lstStyle/>
          <a:p>
            <a:r>
              <a:rPr lang="en-US" sz="1600" b="1" dirty="0"/>
              <a:t>What it shows:</a:t>
            </a:r>
            <a:br>
              <a:rPr lang="en-US" sz="1600" dirty="0"/>
            </a:br>
            <a:r>
              <a:rPr lang="en-US" sz="1600" dirty="0"/>
              <a:t>Each curve fixes a feature count (F = 10, 50, … 1000) and varies the minority percentage. The y-axis shows speedup, letting us see how GPU advantage scales with increasing class imbalance.</a:t>
            </a:r>
          </a:p>
          <a:p>
            <a:endParaRPr lang="en-US" sz="1600" dirty="0"/>
          </a:p>
          <a:p>
            <a:r>
              <a:rPr lang="en-US" sz="1600" b="1" dirty="0"/>
              <a:t>Story:</a:t>
            </a:r>
            <a:br>
              <a:rPr lang="en-US" sz="1600" dirty="0"/>
            </a:br>
            <a:r>
              <a:rPr lang="en-US" sz="1600" dirty="0"/>
              <a:t>At very low minority shares (1–2%), GPU speedups are modest across all feature counts — here the CPU can keep up, especially for small F. As the minority percentage rises, the curves steeply increase, with high-dimensional datasets (F = 500, 1000) reaching 300–700× faster runtimes. For small feature counts (F = 10, 50), the GPU remains limited regardless of minority size, as the problem is too small to fully exploit parallelism.</a:t>
            </a:r>
          </a:p>
          <a:p>
            <a:endParaRPr lang="en-US" sz="1600" dirty="0"/>
          </a:p>
          <a:p>
            <a:r>
              <a:rPr lang="en-US" sz="1600" b="1" dirty="0"/>
              <a:t>Takeaway:</a:t>
            </a:r>
            <a:br>
              <a:rPr lang="en-US" sz="1600" dirty="0"/>
            </a:br>
            <a:r>
              <a:rPr lang="en-US" sz="1600" dirty="0"/>
              <a:t>GPU acceleration is most impactful when both dimensionality and minority percentage are large. For tiny minority fractions, the CPU may be acceptable in small problems, but as soon as feature space grows, GPUs consistently dominate.</a:t>
            </a:r>
          </a:p>
        </p:txBody>
      </p:sp>
      <p:pic>
        <p:nvPicPr>
          <p:cNvPr id="8" name="Picture 7" descr="A graph of different colored lines&#10;&#10;AI-generated content may be incorrect.">
            <a:extLst>
              <a:ext uri="{FF2B5EF4-FFF2-40B4-BE49-F238E27FC236}">
                <a16:creationId xmlns:a16="http://schemas.microsoft.com/office/drawing/2014/main" id="{C6FF7B14-DB52-729F-AFB2-D8E83981A49E}"/>
              </a:ext>
            </a:extLst>
          </p:cNvPr>
          <p:cNvPicPr>
            <a:picLocks noChangeAspect="1"/>
          </p:cNvPicPr>
          <p:nvPr/>
        </p:nvPicPr>
        <p:blipFill>
          <a:blip r:embed="rId3"/>
          <a:stretch>
            <a:fillRect/>
          </a:stretch>
        </p:blipFill>
        <p:spPr>
          <a:xfrm>
            <a:off x="363973" y="1658502"/>
            <a:ext cx="5547763" cy="4160822"/>
          </a:xfrm>
          <a:prstGeom prst="rect">
            <a:avLst/>
          </a:prstGeom>
        </p:spPr>
      </p:pic>
    </p:spTree>
    <p:extLst>
      <p:ext uri="{BB962C8B-B14F-4D97-AF65-F5344CB8AC3E}">
        <p14:creationId xmlns:p14="http://schemas.microsoft.com/office/powerpoint/2010/main" val="242018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39BDE-D4A8-B73A-C8C8-A9CE0B3C397C}"/>
              </a:ext>
            </a:extLst>
          </p:cNvPr>
          <p:cNvSpPr>
            <a:spLocks noGrp="1"/>
          </p:cNvSpPr>
          <p:nvPr>
            <p:ph type="title"/>
          </p:nvPr>
        </p:nvSpPr>
        <p:spPr>
          <a:xfrm>
            <a:off x="914399" y="365125"/>
            <a:ext cx="7273637" cy="1646555"/>
          </a:xfrm>
        </p:spPr>
        <p:txBody>
          <a:bodyPr vert="horz" lIns="91440" tIns="45720" rIns="91440" bIns="45720" rtlCol="0" anchor="ctr">
            <a:normAutofit/>
          </a:bodyPr>
          <a:lstStyle/>
          <a:p>
            <a:r>
              <a:rPr lang="en-US" kern="1200" cap="all" baseline="0">
                <a:latin typeface="+mj-lt"/>
                <a:ea typeface="+mj-ea"/>
                <a:cs typeface="+mj-cs"/>
              </a:rPr>
              <a:t>What I could have changed</a:t>
            </a:r>
          </a:p>
        </p:txBody>
      </p:sp>
      <p:sp>
        <p:nvSpPr>
          <p:cNvPr id="8" name="TextBox 7">
            <a:extLst>
              <a:ext uri="{FF2B5EF4-FFF2-40B4-BE49-F238E27FC236}">
                <a16:creationId xmlns:a16="http://schemas.microsoft.com/office/drawing/2014/main" id="{2092B331-86A3-1665-2969-49B151206AE7}"/>
              </a:ext>
            </a:extLst>
          </p:cNvPr>
          <p:cNvSpPr txBox="1"/>
          <p:nvPr/>
        </p:nvSpPr>
        <p:spPr>
          <a:xfrm>
            <a:off x="914399" y="2011363"/>
            <a:ext cx="7273638" cy="4155757"/>
          </a:xfrm>
          <a:prstGeom prst="rect">
            <a:avLst/>
          </a:prstGeom>
        </p:spPr>
        <p:txBody>
          <a:bodyPr vert="horz" lIns="91440" tIns="45720" rIns="91440" bIns="45720" rtlCol="0">
            <a:normAutofit/>
          </a:bodyPr>
          <a:lstStyle/>
          <a:p>
            <a:pPr marL="228600" indent="-228600">
              <a:lnSpc>
                <a:spcPct val="90000"/>
              </a:lnSpc>
              <a:spcAft>
                <a:spcPts val="1200"/>
              </a:spcAft>
              <a:buFont typeface="Arial" panose="020B0604020202020204" pitchFamily="34" charset="0"/>
              <a:buChar char="•"/>
            </a:pPr>
            <a:r>
              <a:rPr lang="en-US" sz="1700" b="1"/>
              <a:t>Larger datasets (N &gt; 10,000): </a:t>
            </a:r>
            <a:r>
              <a:rPr lang="en-US" sz="1700"/>
              <a:t>Could have tested scaling beyond 10k samples to see how GPU behaves with truly massive data.</a:t>
            </a:r>
          </a:p>
          <a:p>
            <a:pPr marL="228600" indent="-228600">
              <a:lnSpc>
                <a:spcPct val="90000"/>
              </a:lnSpc>
              <a:spcAft>
                <a:spcPts val="1200"/>
              </a:spcAft>
              <a:buFont typeface="Arial" panose="020B0604020202020204" pitchFamily="34" charset="0"/>
              <a:buChar char="•"/>
            </a:pPr>
            <a:r>
              <a:rPr lang="en-US" sz="1700" b="1"/>
              <a:t>Multiple GPU types: </a:t>
            </a:r>
            <a:r>
              <a:rPr lang="en-US" sz="1700"/>
              <a:t>Results are from a single GPU. Different architectures (e.g., consumer vs data-center cards) might show different trends.</a:t>
            </a:r>
          </a:p>
          <a:p>
            <a:pPr marL="228600" indent="-228600">
              <a:lnSpc>
                <a:spcPct val="90000"/>
              </a:lnSpc>
              <a:spcAft>
                <a:spcPts val="1200"/>
              </a:spcAft>
              <a:buFont typeface="Arial" panose="020B0604020202020204" pitchFamily="34" charset="0"/>
              <a:buChar char="•"/>
            </a:pPr>
            <a:r>
              <a:rPr lang="en-US" sz="1700" b="1"/>
              <a:t>More repetitions per test: </a:t>
            </a:r>
            <a:r>
              <a:rPr lang="en-US" sz="1700"/>
              <a:t>Averaging over more runs would smooth out noise and give tighter confidence in timings.</a:t>
            </a:r>
          </a:p>
          <a:p>
            <a:pPr marL="228600" indent="-228600">
              <a:lnSpc>
                <a:spcPct val="90000"/>
              </a:lnSpc>
              <a:spcAft>
                <a:spcPts val="1200"/>
              </a:spcAft>
              <a:buFont typeface="Arial" panose="020B0604020202020204" pitchFamily="34" charset="0"/>
              <a:buChar char="•"/>
            </a:pPr>
            <a:r>
              <a:rPr lang="en-US" sz="1700" b="1"/>
              <a:t>Alternative baselines: </a:t>
            </a:r>
            <a:r>
              <a:rPr lang="en-US" sz="1700"/>
              <a:t>Only compared to CPU implementation; could also compare against multi-threaded CPU libraries (e.g., joblib, scikit-learn with parallelism).</a:t>
            </a:r>
          </a:p>
          <a:p>
            <a:pPr marL="228600" indent="-228600">
              <a:lnSpc>
                <a:spcPct val="90000"/>
              </a:lnSpc>
              <a:spcAft>
                <a:spcPts val="1200"/>
              </a:spcAft>
              <a:buFont typeface="Arial" panose="020B0604020202020204" pitchFamily="34" charset="0"/>
              <a:buChar char="•"/>
            </a:pPr>
            <a:r>
              <a:rPr lang="en-US" sz="1700" b="1"/>
              <a:t>Memory profiling: </a:t>
            </a:r>
            <a:r>
              <a:rPr lang="en-US" sz="1700"/>
              <a:t>Speed isn’t the only factor; GPU memory usage could have been tracked to highlight tradeoffs.</a:t>
            </a:r>
          </a:p>
          <a:p>
            <a:pPr marL="228600" indent="-228600">
              <a:lnSpc>
                <a:spcPct val="90000"/>
              </a:lnSpc>
              <a:spcAft>
                <a:spcPts val="1200"/>
              </a:spcAft>
              <a:buFont typeface="Arial" panose="020B0604020202020204" pitchFamily="34" charset="0"/>
              <a:buChar char="•"/>
            </a:pPr>
            <a:r>
              <a:rPr lang="en-US" sz="1700" b="1"/>
              <a:t>Visualization options: </a:t>
            </a:r>
            <a:r>
              <a:rPr lang="en-US" sz="1700"/>
              <a:t>Could combine all plots into interactive dashboards for easier exploration.</a:t>
            </a:r>
          </a:p>
        </p:txBody>
      </p:sp>
      <p:sp>
        <p:nvSpPr>
          <p:cNvPr id="13" name="Slide Number Placeholder 3">
            <a:extLst>
              <a:ext uri="{FF2B5EF4-FFF2-40B4-BE49-F238E27FC236}">
                <a16:creationId xmlns:a16="http://schemas.microsoft.com/office/drawing/2014/main" id="{B89062F4-DA59-186B-D757-A344DF0B20A8}"/>
              </a:ext>
            </a:extLst>
          </p:cNvPr>
          <p:cNvSpPr>
            <a:spLocks noGrp="1"/>
          </p:cNvSpPr>
          <p:nvPr>
            <p:ph type="sldNum" sz="quarter" idx="4"/>
          </p:nvPr>
        </p:nvSpPr>
        <p:spPr>
          <a:xfrm>
            <a:off x="914400" y="6246254"/>
            <a:ext cx="631065" cy="296214"/>
          </a:xfrm>
        </p:spPr>
        <p:txBody>
          <a:bodyPr/>
          <a:lstStyle/>
          <a:p>
            <a:pPr>
              <a:spcAft>
                <a:spcPts val="600"/>
              </a:spcAft>
            </a:pPr>
            <a:fld id="{B5CEABB6-07DC-46E8-9B57-56EC44A396E5}" type="slidenum">
              <a:rPr lang="en-US" smtClean="0"/>
              <a:pPr>
                <a:spcAft>
                  <a:spcPts val="600"/>
                </a:spcAft>
              </a:pPr>
              <a:t>10</a:t>
            </a:fld>
            <a:endParaRPr lang="en-US"/>
          </a:p>
        </p:txBody>
      </p:sp>
    </p:spTree>
    <p:extLst>
      <p:ext uri="{BB962C8B-B14F-4D97-AF65-F5344CB8AC3E}">
        <p14:creationId xmlns:p14="http://schemas.microsoft.com/office/powerpoint/2010/main" val="4130957683"/>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150</TotalTime>
  <Words>1614</Words>
  <Application>Microsoft Office PowerPoint</Application>
  <PresentationFormat>Widescreen</PresentationFormat>
  <Paragraphs>109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Tenorite</vt:lpstr>
      <vt:lpstr>Custom</vt:lpstr>
      <vt:lpstr>CUDA-Accelerated SMOTE: AN Overview</vt:lpstr>
      <vt:lpstr>Code walkthrough (CPU path)</vt:lpstr>
      <vt:lpstr>Code walkthrough (GPU path)</vt:lpstr>
      <vt:lpstr>Where GPU vs CPU in the code (simple map)</vt:lpstr>
      <vt:lpstr>CPU VS. GPU: Testing Pipeline</vt:lpstr>
      <vt:lpstr>Cpu Vs. Gpu Testing: Plot Overview </vt:lpstr>
      <vt:lpstr>Speedup Heatmap (N = 10,000)</vt:lpstr>
      <vt:lpstr>Speedup vs Features (N = 10,000) /w fixed minority %</vt:lpstr>
      <vt:lpstr>Speedup vs Features (N = 10,000) /w fixed minority %</vt:lpstr>
      <vt:lpstr>What I could have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Uniyal</dc:creator>
  <cp:lastModifiedBy>Aditya Uniyal</cp:lastModifiedBy>
  <cp:revision>7</cp:revision>
  <dcterms:created xsi:type="dcterms:W3CDTF">2025-08-11T18:49:13Z</dcterms:created>
  <dcterms:modified xsi:type="dcterms:W3CDTF">2025-08-16T20:41:57Z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